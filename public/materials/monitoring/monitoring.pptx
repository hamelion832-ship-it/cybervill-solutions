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82" r:id="rId3"/>
    <p:sldId id="259" r:id="rId4"/>
    <p:sldId id="265" r:id="rId5"/>
    <p:sldId id="268" r:id="rId6"/>
    <p:sldId id="261" r:id="rId7"/>
    <p:sldId id="262" r:id="rId8"/>
    <p:sldId id="279" r:id="rId9"/>
    <p:sldId id="263" r:id="rId10"/>
    <p:sldId id="274" r:id="rId11"/>
    <p:sldId id="272" r:id="rId12"/>
    <p:sldId id="275" r:id="rId13"/>
    <p:sldId id="280" r:id="rId14"/>
    <p:sldId id="281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чт 14.04.22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500174"/>
            <a:ext cx="9144000" cy="2214577"/>
          </a:xfrm>
          <a:solidFill>
            <a:schemeClr val="accent1">
              <a:alpha val="70000"/>
            </a:schemeClr>
          </a:solidFill>
        </p:spPr>
        <p:txBody>
          <a:bodyPr>
            <a:normAutofit/>
          </a:bodyPr>
          <a:lstStyle/>
          <a:p>
            <a:r>
              <a:rPr lang="ru-RU" dirty="0"/>
              <a:t>Проблемы и перспективы развития систем мониторинга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1480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ru-RU" dirty="0"/>
              <a:t>Уровни измерений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428992" y="714356"/>
            <a:ext cx="2428892" cy="1500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Куст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643702" y="757658"/>
            <a:ext cx="2357454" cy="1500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Месторождение</a:t>
            </a:r>
            <a:endParaRPr lang="ru-RU" sz="2000" u="sng" dirty="0">
              <a:solidFill>
                <a:schemeClr val="tx1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16" name="Стрелка вправо 15"/>
          <p:cNvSpPr/>
          <p:nvPr/>
        </p:nvSpPr>
        <p:spPr>
          <a:xfrm>
            <a:off x="2571736" y="1071546"/>
            <a:ext cx="857256" cy="857256"/>
          </a:xfrm>
          <a:prstGeom prst="rightArrow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трелка вправо 30"/>
          <p:cNvSpPr/>
          <p:nvPr/>
        </p:nvSpPr>
        <p:spPr>
          <a:xfrm>
            <a:off x="5857884" y="1071546"/>
            <a:ext cx="785818" cy="857256"/>
          </a:xfrm>
          <a:prstGeom prst="rightArrow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428596" y="714356"/>
            <a:ext cx="2143140" cy="1500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Скважина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428596" y="2285992"/>
            <a:ext cx="2143140" cy="4214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u="sng" dirty="0">
                <a:solidFill>
                  <a:srgbClr val="FF0000"/>
                </a:solidFill>
              </a:rPr>
              <a:t>Индивидуальные измерения:</a:t>
            </a:r>
          </a:p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Многофазный расходомер</a:t>
            </a:r>
          </a:p>
          <a:p>
            <a:pPr>
              <a:buFont typeface="Arial" pitchFamily="34" charset="0"/>
              <a:buChar char="•"/>
            </a:pPr>
            <a:r>
              <a:rPr lang="ru-RU" dirty="0" err="1">
                <a:solidFill>
                  <a:schemeClr val="tx1"/>
                </a:solidFill>
              </a:rPr>
              <a:t>Внутрисважинный</a:t>
            </a:r>
            <a:r>
              <a:rPr lang="ru-RU" dirty="0">
                <a:solidFill>
                  <a:schemeClr val="tx1"/>
                </a:solidFill>
              </a:rPr>
              <a:t> мониторинг (ТМС, ЭЦН)</a:t>
            </a:r>
          </a:p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Отбор проб</a:t>
            </a: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3428992" y="2285992"/>
            <a:ext cx="2428892" cy="4214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u="sng" dirty="0">
                <a:solidFill>
                  <a:srgbClr val="FF0000"/>
                </a:solidFill>
              </a:rPr>
              <a:t>ГЗУ</a:t>
            </a:r>
          </a:p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Групповые замеры</a:t>
            </a:r>
          </a:p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Переключение по расписанию</a:t>
            </a:r>
          </a:p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Переключение по событиям</a:t>
            </a: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6643702" y="2357430"/>
            <a:ext cx="2357454" cy="41152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u="sng" dirty="0">
                <a:solidFill>
                  <a:srgbClr val="FF0000"/>
                </a:solidFill>
              </a:rPr>
              <a:t>Замеры на ДНС (УКПГ)</a:t>
            </a:r>
          </a:p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Полная сепарация фаз</a:t>
            </a:r>
          </a:p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Высокая точность</a:t>
            </a:r>
          </a:p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Суммарный дебит месторождения</a:t>
            </a: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1480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ru-RU" dirty="0"/>
              <a:t>Текущее состояние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71472" y="714356"/>
            <a:ext cx="357190" cy="15716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ru-RU" b="1" dirty="0"/>
              <a:t>Сбор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71472" y="4214818"/>
            <a:ext cx="357190" cy="24288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ru-RU" sz="2000" b="1" dirty="0"/>
              <a:t>Анализ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0" y="642918"/>
            <a:ext cx="571472" cy="62150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Информация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714744" y="714356"/>
            <a:ext cx="1928826" cy="1500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Куст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357950" y="714356"/>
            <a:ext cx="2571768" cy="1500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Месторождение</a:t>
            </a:r>
            <a:endParaRPr lang="ru-RU" sz="2000" u="sng" dirty="0">
              <a:solidFill>
                <a:schemeClr val="tx1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42910" y="2786058"/>
            <a:ext cx="8286808" cy="500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Базы данных нижнего уровня (</a:t>
            </a:r>
            <a:r>
              <a:rPr lang="en-US" sz="2400" dirty="0">
                <a:solidFill>
                  <a:schemeClr val="tx1"/>
                </a:solidFill>
              </a:rPr>
              <a:t>SCADA/Historian</a:t>
            </a:r>
            <a:r>
              <a:rPr lang="ru-RU" sz="2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0" name="Прямоугольник 29"/>
          <p:cNvSpPr/>
          <p:nvPr/>
        </p:nvSpPr>
        <p:spPr>
          <a:xfrm>
            <a:off x="1071538" y="4214818"/>
            <a:ext cx="2000264" cy="24532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Отчетность 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Нефть на реализацию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 err="1">
                <a:solidFill>
                  <a:schemeClr val="tx1"/>
                </a:solidFill>
              </a:rPr>
              <a:t>Шахматки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Сводный отчет</a:t>
            </a: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16" name="Стрелка вправо 15"/>
          <p:cNvSpPr/>
          <p:nvPr/>
        </p:nvSpPr>
        <p:spPr>
          <a:xfrm>
            <a:off x="3071802" y="1071546"/>
            <a:ext cx="857256" cy="857256"/>
          </a:xfrm>
          <a:prstGeom prst="rightArrow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трелка вправо 30"/>
          <p:cNvSpPr/>
          <p:nvPr/>
        </p:nvSpPr>
        <p:spPr>
          <a:xfrm>
            <a:off x="5643570" y="1071546"/>
            <a:ext cx="857256" cy="857256"/>
          </a:xfrm>
          <a:prstGeom prst="rightArrow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642910" y="3357562"/>
            <a:ext cx="8286808" cy="500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Пользовательские базы данных (</a:t>
            </a:r>
            <a:r>
              <a:rPr lang="en-US" sz="2400" dirty="0">
                <a:solidFill>
                  <a:schemeClr val="tx1"/>
                </a:solidFill>
              </a:rPr>
              <a:t>Avocet AVM, Excel</a:t>
            </a:r>
            <a:r>
              <a:rPr lang="ru-RU" sz="2400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33" name="Group 9"/>
          <p:cNvGrpSpPr>
            <a:grpSpLocks/>
          </p:cNvGrpSpPr>
          <p:nvPr/>
        </p:nvGrpSpPr>
        <p:grpSpPr bwMode="auto">
          <a:xfrm>
            <a:off x="1071538" y="2357430"/>
            <a:ext cx="7858180" cy="387350"/>
            <a:chOff x="1981" y="2407"/>
            <a:chExt cx="1667" cy="132"/>
          </a:xfrm>
        </p:grpSpPr>
        <p:sp>
          <p:nvSpPr>
            <p:cNvPr id="34" name="Line 10"/>
            <p:cNvSpPr>
              <a:spLocks noChangeShapeType="1"/>
            </p:cNvSpPr>
            <p:nvPr/>
          </p:nvSpPr>
          <p:spPr bwMode="blackWhite">
            <a:xfrm>
              <a:off x="1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35" name="Line 11"/>
            <p:cNvSpPr>
              <a:spLocks noChangeShapeType="1"/>
            </p:cNvSpPr>
            <p:nvPr/>
          </p:nvSpPr>
          <p:spPr bwMode="blackWhite">
            <a:xfrm>
              <a:off x="2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36" name="Line 12"/>
            <p:cNvSpPr>
              <a:spLocks noChangeShapeType="1"/>
            </p:cNvSpPr>
            <p:nvPr/>
          </p:nvSpPr>
          <p:spPr bwMode="blackWhite">
            <a:xfrm>
              <a:off x="2647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blackWhite">
            <a:xfrm>
              <a:off x="2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38" name="Line 14"/>
            <p:cNvSpPr>
              <a:spLocks noChangeShapeType="1"/>
            </p:cNvSpPr>
            <p:nvPr/>
          </p:nvSpPr>
          <p:spPr bwMode="blackWhite">
            <a:xfrm>
              <a:off x="3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39" name="Line 15"/>
            <p:cNvSpPr>
              <a:spLocks noChangeShapeType="1"/>
            </p:cNvSpPr>
            <p:nvPr/>
          </p:nvSpPr>
          <p:spPr bwMode="blackWhite">
            <a:xfrm>
              <a:off x="3648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40" name="Line 16"/>
          <p:cNvSpPr>
            <a:spLocks noChangeShapeType="1"/>
          </p:cNvSpPr>
          <p:nvPr/>
        </p:nvSpPr>
        <p:spPr bwMode="blackWhite">
          <a:xfrm>
            <a:off x="2071670" y="3929066"/>
            <a:ext cx="0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1072636" y="743590"/>
            <a:ext cx="2000264" cy="1500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Скважина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3714744" y="4214818"/>
            <a:ext cx="1928826" cy="24288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Разработка 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Тех. режимы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Кандидаты на ГТМ </a:t>
            </a: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6357950" y="4214818"/>
            <a:ext cx="2571768" cy="24288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endParaRPr lang="ru-RU" sz="2400" u="sng" dirty="0">
              <a:solidFill>
                <a:srgbClr val="FF0000"/>
              </a:solidFill>
            </a:endParaRPr>
          </a:p>
          <a:p>
            <a:pPr algn="ctr"/>
            <a:r>
              <a:rPr lang="ru-RU" sz="2400" u="sng" dirty="0">
                <a:solidFill>
                  <a:srgbClr val="FF0000"/>
                </a:solidFill>
              </a:rPr>
              <a:t>Моделирование</a:t>
            </a:r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sz="2000" dirty="0">
              <a:solidFill>
                <a:schemeClr val="tx1"/>
              </a:solidFill>
            </a:endParaRPr>
          </a:p>
          <a:p>
            <a:pPr algn="ctr"/>
            <a:r>
              <a:rPr lang="ru-RU" sz="2000" dirty="0">
                <a:solidFill>
                  <a:schemeClr val="tx1"/>
                </a:solidFill>
              </a:rPr>
              <a:t>Построение гидродинамических моделей</a:t>
            </a:r>
            <a:endParaRPr lang="ru-RU" sz="2000" b="1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  <a:p>
            <a:pPr algn="ctr"/>
            <a:endParaRPr lang="ru-RU" u="sng" dirty="0">
              <a:solidFill>
                <a:srgbClr val="FF0000"/>
              </a:solidFill>
            </a:endParaRPr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blackWhite">
          <a:xfrm>
            <a:off x="4643438" y="3929066"/>
            <a:ext cx="0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blackWhite">
          <a:xfrm>
            <a:off x="7643834" y="3929066"/>
            <a:ext cx="0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</p:spPr>
        <p:txBody>
          <a:bodyPr lIns="0" tIns="0" rIns="0" bIns="0"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/>
          <a:lstStyle/>
          <a:p>
            <a:r>
              <a:rPr lang="ru-RU" dirty="0"/>
              <a:t>Схема 1. Групповой замер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108" y="5857892"/>
            <a:ext cx="8858280" cy="4616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b="1" dirty="0"/>
              <a:t>Отсутствие какой-либо информации по отдельным скважинам!</a:t>
            </a:r>
          </a:p>
        </p:txBody>
      </p:sp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3226" y="2500306"/>
            <a:ext cx="6165850" cy="26432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9" name="TextBox 38"/>
          <p:cNvSpPr txBox="1"/>
          <p:nvPr/>
        </p:nvSpPr>
        <p:spPr>
          <a:xfrm>
            <a:off x="0" y="164305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ru-RU" sz="2800" dirty="0"/>
              <a:t>Многофазный расходомер для групповых замеров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ru-RU" dirty="0"/>
              <a:t>Схема 2. Переключение по расписанию</a:t>
            </a:r>
          </a:p>
        </p:txBody>
      </p:sp>
      <p:grpSp>
        <p:nvGrpSpPr>
          <p:cNvPr id="6" name="Группа 5"/>
          <p:cNvGrpSpPr/>
          <p:nvPr/>
        </p:nvGrpSpPr>
        <p:grpSpPr>
          <a:xfrm>
            <a:off x="1357290" y="3071811"/>
            <a:ext cx="5761210" cy="1714512"/>
            <a:chOff x="407368" y="1340768"/>
            <a:chExt cx="5832648" cy="2749401"/>
          </a:xfrm>
        </p:grpSpPr>
        <p:cxnSp>
          <p:nvCxnSpPr>
            <p:cNvPr id="7" name="Прямая соединительная линия 6"/>
            <p:cNvCxnSpPr/>
            <p:nvPr/>
          </p:nvCxnSpPr>
          <p:spPr>
            <a:xfrm flipH="1" flipV="1">
              <a:off x="5871326" y="2781168"/>
              <a:ext cx="0" cy="3594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Группа 9"/>
            <p:cNvGrpSpPr/>
            <p:nvPr/>
          </p:nvGrpSpPr>
          <p:grpSpPr>
            <a:xfrm>
              <a:off x="407368" y="1340768"/>
              <a:ext cx="5832648" cy="2749401"/>
              <a:chOff x="407368" y="1340768"/>
              <a:chExt cx="5832648" cy="2749401"/>
            </a:xfrm>
          </p:grpSpPr>
          <p:grpSp>
            <p:nvGrpSpPr>
              <p:cNvPr id="9" name="Группа 10"/>
              <p:cNvGrpSpPr/>
              <p:nvPr/>
            </p:nvGrpSpPr>
            <p:grpSpPr>
              <a:xfrm>
                <a:off x="407368" y="1340768"/>
                <a:ext cx="5832648" cy="2749401"/>
                <a:chOff x="407368" y="1340768"/>
                <a:chExt cx="5832648" cy="2749401"/>
              </a:xfrm>
            </p:grpSpPr>
            <p:grpSp>
              <p:nvGrpSpPr>
                <p:cNvPr id="11" name="Группа 12"/>
                <p:cNvGrpSpPr/>
                <p:nvPr/>
              </p:nvGrpSpPr>
              <p:grpSpPr>
                <a:xfrm>
                  <a:off x="407368" y="1340768"/>
                  <a:ext cx="5832648" cy="2532267"/>
                  <a:chOff x="695400" y="3428760"/>
                  <a:chExt cx="5832648" cy="2532267"/>
                </a:xfrm>
              </p:grpSpPr>
              <p:sp>
                <p:nvSpPr>
                  <p:cNvPr id="13" name="Блок-схема: извлечение 12"/>
                  <p:cNvSpPr/>
                  <p:nvPr/>
                </p:nvSpPr>
                <p:spPr>
                  <a:xfrm>
                    <a:off x="695400" y="5445224"/>
                    <a:ext cx="288032" cy="360040"/>
                  </a:xfrm>
                  <a:prstGeom prst="flowChartExtract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bg1"/>
                        </a:solidFill>
                      </a:rPr>
                      <a:t>1</a:t>
                    </a:r>
                    <a:endParaRPr lang="ru-RU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Блок-схема: извлечение 13"/>
                  <p:cNvSpPr/>
                  <p:nvPr/>
                </p:nvSpPr>
                <p:spPr>
                  <a:xfrm>
                    <a:off x="1055440" y="5445224"/>
                    <a:ext cx="288032" cy="360040"/>
                  </a:xfrm>
                  <a:prstGeom prst="flowChartExtra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bg1"/>
                        </a:solidFill>
                      </a:rPr>
                      <a:t>2</a:t>
                    </a:r>
                    <a:endParaRPr lang="ru-RU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" name="Блок-схема: извлечение 14"/>
                  <p:cNvSpPr/>
                  <p:nvPr/>
                </p:nvSpPr>
                <p:spPr>
                  <a:xfrm>
                    <a:off x="1847528" y="5445224"/>
                    <a:ext cx="288032" cy="360040"/>
                  </a:xfrm>
                  <a:prstGeom prst="flowChartExtra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bg1"/>
                        </a:solidFill>
                      </a:rPr>
                      <a:t>9</a:t>
                    </a:r>
                    <a:endParaRPr lang="ru-RU" dirty="0">
                      <a:solidFill>
                        <a:schemeClr val="bg1"/>
                      </a:solidFill>
                    </a:endParaRPr>
                  </a:p>
                </p:txBody>
              </p:sp>
              <p:grpSp>
                <p:nvGrpSpPr>
                  <p:cNvPr id="16" name="Группа 17"/>
                  <p:cNvGrpSpPr/>
                  <p:nvPr/>
                </p:nvGrpSpPr>
                <p:grpSpPr>
                  <a:xfrm>
                    <a:off x="3647728" y="4581128"/>
                    <a:ext cx="576064" cy="576064"/>
                    <a:chOff x="3503712" y="4653136"/>
                    <a:chExt cx="576064" cy="576064"/>
                  </a:xfrm>
                </p:grpSpPr>
                <p:sp>
                  <p:nvSpPr>
                    <p:cNvPr id="35" name="Овал 34"/>
                    <p:cNvSpPr/>
                    <p:nvPr/>
                  </p:nvSpPr>
                  <p:spPr>
                    <a:xfrm>
                      <a:off x="3503712" y="4653136"/>
                      <a:ext cx="576064" cy="576064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  <p:cxnSp>
                  <p:nvCxnSpPr>
                    <p:cNvPr id="36" name="Прямая со стрелкой 35"/>
                    <p:cNvCxnSpPr/>
                    <p:nvPr/>
                  </p:nvCxnSpPr>
                  <p:spPr>
                    <a:xfrm flipV="1">
                      <a:off x="3647728" y="4797152"/>
                      <a:ext cx="288032" cy="288032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headEnd type="none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7" name="Прямая соединительная линия 16"/>
                  <p:cNvCxnSpPr>
                    <a:stCxn id="13" idx="0"/>
                  </p:cNvCxnSpPr>
                  <p:nvPr/>
                </p:nvCxnSpPr>
                <p:spPr>
                  <a:xfrm flipV="1">
                    <a:off x="839416" y="4581128"/>
                    <a:ext cx="0" cy="86409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Прямая соединительная линия 17"/>
                  <p:cNvCxnSpPr>
                    <a:stCxn id="14" idx="0"/>
                  </p:cNvCxnSpPr>
                  <p:nvPr/>
                </p:nvCxnSpPr>
                <p:spPr>
                  <a:xfrm flipV="1">
                    <a:off x="1199456" y="4869160"/>
                    <a:ext cx="0" cy="57606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Прямая соединительная линия 18"/>
                  <p:cNvCxnSpPr/>
                  <p:nvPr/>
                </p:nvCxnSpPr>
                <p:spPr>
                  <a:xfrm flipV="1">
                    <a:off x="1991544" y="5182892"/>
                    <a:ext cx="0" cy="26233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Прямая соединительная линия 19"/>
                  <p:cNvCxnSpPr/>
                  <p:nvPr/>
                </p:nvCxnSpPr>
                <p:spPr>
                  <a:xfrm>
                    <a:off x="839416" y="4581128"/>
                    <a:ext cx="2808312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Прямая соединительная линия 20"/>
                  <p:cNvCxnSpPr>
                    <a:endCxn id="35" idx="2"/>
                  </p:cNvCxnSpPr>
                  <p:nvPr/>
                </p:nvCxnSpPr>
                <p:spPr>
                  <a:xfrm>
                    <a:off x="1199456" y="4869160"/>
                    <a:ext cx="2448272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Прямая соединительная линия 21"/>
                  <p:cNvCxnSpPr/>
                  <p:nvPr/>
                </p:nvCxnSpPr>
                <p:spPr>
                  <a:xfrm>
                    <a:off x="1991544" y="5169547"/>
                    <a:ext cx="1656184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Прямая соединительная линия 22"/>
                  <p:cNvCxnSpPr>
                    <a:endCxn id="35" idx="1"/>
                  </p:cNvCxnSpPr>
                  <p:nvPr/>
                </p:nvCxnSpPr>
                <p:spPr>
                  <a:xfrm>
                    <a:off x="3647728" y="4581128"/>
                    <a:ext cx="84363" cy="84363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Прямая соединительная линия 23"/>
                  <p:cNvCxnSpPr/>
                  <p:nvPr/>
                </p:nvCxnSpPr>
                <p:spPr>
                  <a:xfrm rot="5400000">
                    <a:off x="3647728" y="5085184"/>
                    <a:ext cx="84363" cy="84363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3154410" y="5376251"/>
                    <a:ext cx="1731371" cy="584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ru-RU" sz="1600" dirty="0"/>
                      <a:t>Гидравлический</a:t>
                    </a:r>
                  </a:p>
                  <a:p>
                    <a:pPr algn="ctr"/>
                    <a:r>
                      <a:rPr lang="ru-RU" sz="1600" dirty="0"/>
                      <a:t>переключатель</a:t>
                    </a:r>
                  </a:p>
                </p:txBody>
              </p:sp>
              <p:sp>
                <p:nvSpPr>
                  <p:cNvPr id="26" name="Прямоугольник 25"/>
                  <p:cNvSpPr/>
                  <p:nvPr/>
                </p:nvSpPr>
                <p:spPr>
                  <a:xfrm>
                    <a:off x="4520600" y="4164064"/>
                    <a:ext cx="1367431" cy="876451"/>
                  </a:xfrm>
                  <a:prstGeom prst="rect">
                    <a:avLst/>
                  </a:prstGeom>
                  <a:solidFill>
                    <a:srgbClr val="FFCE33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600" dirty="0">
                        <a:solidFill>
                          <a:schemeClr val="tx1"/>
                        </a:solidFill>
                      </a:rPr>
                      <a:t>Расходомер</a:t>
                    </a:r>
                  </a:p>
                </p:txBody>
              </p:sp>
              <p:cxnSp>
                <p:nvCxnSpPr>
                  <p:cNvPr id="27" name="Прямая соединительная линия 26"/>
                  <p:cNvCxnSpPr/>
                  <p:nvPr/>
                </p:nvCxnSpPr>
                <p:spPr>
                  <a:xfrm>
                    <a:off x="4223792" y="4869160"/>
                    <a:ext cx="288032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Прямая соединительная линия 27"/>
                  <p:cNvCxnSpPr/>
                  <p:nvPr/>
                </p:nvCxnSpPr>
                <p:spPr>
                  <a:xfrm>
                    <a:off x="4139428" y="5084620"/>
                    <a:ext cx="144000" cy="144000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Прямая соединительная линия 28"/>
                  <p:cNvCxnSpPr/>
                  <p:nvPr/>
                </p:nvCxnSpPr>
                <p:spPr>
                  <a:xfrm>
                    <a:off x="4283428" y="5228620"/>
                    <a:ext cx="2244620" cy="587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Прямая соединительная линия 29"/>
                  <p:cNvCxnSpPr/>
                  <p:nvPr/>
                </p:nvCxnSpPr>
                <p:spPr>
                  <a:xfrm>
                    <a:off x="5888031" y="4869160"/>
                    <a:ext cx="288032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Прямая соединительная линия 30"/>
                  <p:cNvCxnSpPr/>
                  <p:nvPr/>
                </p:nvCxnSpPr>
                <p:spPr>
                  <a:xfrm flipV="1">
                    <a:off x="5198628" y="3428760"/>
                    <a:ext cx="0" cy="3594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Прямоугольник 31"/>
                  <p:cNvSpPr/>
                  <p:nvPr/>
                </p:nvSpPr>
                <p:spPr>
                  <a:xfrm>
                    <a:off x="4622744" y="3760206"/>
                    <a:ext cx="1151768" cy="337738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400" dirty="0">
                        <a:solidFill>
                          <a:schemeClr val="tx1"/>
                        </a:solidFill>
                      </a:rPr>
                      <a:t>Передача</a:t>
                    </a:r>
                  </a:p>
                </p:txBody>
              </p:sp>
              <p:cxnSp>
                <p:nvCxnSpPr>
                  <p:cNvPr id="33" name="Прямая со стрелкой 32"/>
                  <p:cNvCxnSpPr/>
                  <p:nvPr/>
                </p:nvCxnSpPr>
                <p:spPr>
                  <a:xfrm flipH="1">
                    <a:off x="2999656" y="3428760"/>
                    <a:ext cx="2198972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1903389" y="3447136"/>
                    <a:ext cx="243141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sz="1600" dirty="0"/>
                      <a:t>Периодические замеры</a:t>
                    </a:r>
                  </a:p>
                </p:txBody>
              </p:sp>
            </p:grpSp>
            <p:sp>
              <p:nvSpPr>
                <p:cNvPr id="12" name="TextBox 11"/>
                <p:cNvSpPr txBox="1"/>
                <p:nvPr/>
              </p:nvSpPr>
              <p:spPr>
                <a:xfrm>
                  <a:off x="415753" y="3720837"/>
                  <a:ext cx="1593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dirty="0"/>
                    <a:t>Куст скважин</a:t>
                  </a:r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1097545" y="3447801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…</a:t>
                </a:r>
                <a:endParaRPr lang="ru-RU" b="1" dirty="0"/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0" y="1571613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ru-RU" sz="2800" dirty="0"/>
              <a:t>Многофазный расходомер;</a:t>
            </a:r>
          </a:p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ru-RU" sz="2800" dirty="0"/>
              <a:t>Система запорной арматуры для переключения;</a:t>
            </a:r>
          </a:p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ru-RU" sz="2800" dirty="0"/>
              <a:t>Строго заданный интервал между переключениями.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680" y="4929198"/>
            <a:ext cx="8858280" cy="83099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b="1" dirty="0"/>
              <a:t>Приемлемая стоимость</a:t>
            </a:r>
          </a:p>
          <a:p>
            <a:pPr>
              <a:buFont typeface="Arial" pitchFamily="34" charset="0"/>
              <a:buChar char="•"/>
            </a:pPr>
            <a:r>
              <a:rPr lang="ru-RU" sz="2400" b="1" dirty="0"/>
              <a:t>Некоторая информация по каждой скважине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680" y="5857892"/>
            <a:ext cx="8858280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b="1" dirty="0"/>
              <a:t>Потери больших интервалов данных</a:t>
            </a:r>
          </a:p>
          <a:p>
            <a:pPr>
              <a:buFont typeface="Arial" pitchFamily="34" charset="0"/>
              <a:buChar char="•"/>
            </a:pPr>
            <a:r>
              <a:rPr lang="ru-RU" sz="2400" b="1" dirty="0"/>
              <a:t>Износ запорной арматуры из-за частых переключений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/>
          <a:lstStyle/>
          <a:p>
            <a:r>
              <a:rPr lang="ru-RU" dirty="0"/>
              <a:t>Поставленные 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714488"/>
            <a:ext cx="9144000" cy="373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3200" dirty="0">
                <a:solidFill>
                  <a:prstClr val="black"/>
                </a:solidFill>
              </a:rPr>
              <a:t>1. Создание механизма количественной оценки погрешности различных схем измерения;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3200" dirty="0">
                <a:solidFill>
                  <a:prstClr val="black"/>
                </a:solidFill>
              </a:rPr>
              <a:t>2. Создание программного модуля для моделирования, расчета и сравнения различных схем измерения;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3200" dirty="0">
                <a:solidFill>
                  <a:prstClr val="black"/>
                </a:solidFill>
              </a:rPr>
              <a:t>3. Обоснование и выбор оптимальной кустовой схемы измерения дебита.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/>
          <a:lstStyle/>
          <a:p>
            <a:r>
              <a:rPr lang="ru-RU" dirty="0"/>
              <a:t>Методика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43050"/>
            <a:ext cx="9144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1. На основе полученных данных собирался модельный куст данных.  В качестве данных точного расходомера брались данных, полученные во время исследований </a:t>
            </a:r>
            <a:r>
              <a:rPr lang="en-US" sz="2000" dirty="0"/>
              <a:t>Schlumberger </a:t>
            </a:r>
            <a:r>
              <a:rPr lang="en-US" sz="2000" dirty="0" err="1"/>
              <a:t>PhaseWatcher</a:t>
            </a:r>
            <a:r>
              <a:rPr lang="en-US" sz="2000" dirty="0"/>
              <a:t> Vx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dirty="0"/>
              <a:t>2. На созданном кусте моделировалась работа трех различных замерных систем, подробно описанных ниже: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/>
              <a:t>ГЗУ;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/>
              <a:t>Схема переключения по расписанию;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/>
              <a:t>Схема переключения по событиям.</a:t>
            </a:r>
          </a:p>
          <a:p>
            <a:pPr>
              <a:buFont typeface="Arial" pitchFamily="34" charset="0"/>
              <a:buChar char="•"/>
            </a:pPr>
            <a:endParaRPr lang="ru-RU" sz="2000" dirty="0"/>
          </a:p>
          <a:p>
            <a:r>
              <a:rPr lang="ru-RU" sz="2000" dirty="0"/>
              <a:t>3. С помощью теории информации проводилось численное сравнение различных схем замеров. Вычислялись критерии полноты и потерь информации;</a:t>
            </a:r>
          </a:p>
          <a:p>
            <a:endParaRPr lang="ru-RU" sz="2000" dirty="0"/>
          </a:p>
          <a:p>
            <a:r>
              <a:rPr lang="ru-RU" sz="2000" dirty="0"/>
              <a:t>4. Делался сводный отчет.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ru-RU" dirty="0"/>
              <a:t>Схема 3. Переключение по событиям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1571612"/>
            <a:ext cx="914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ru-RU" sz="2800" dirty="0"/>
              <a:t>Многофазный расходомер + запорная арматура;</a:t>
            </a:r>
          </a:p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ru-RU" sz="2800" dirty="0"/>
              <a:t>Система датчиков на каждой скважине;</a:t>
            </a:r>
          </a:p>
          <a:p>
            <a:pPr>
              <a:buClr>
                <a:srgbClr val="FF0000"/>
              </a:buClr>
              <a:buFont typeface="Wingdings" pitchFamily="2" charset="2"/>
              <a:buChar char="q"/>
            </a:pPr>
            <a:r>
              <a:rPr lang="ru-RU" sz="2800" dirty="0"/>
              <a:t>Система датчиков регистрирует событие и дает запрос на переключение многофазного расходомера</a:t>
            </a:r>
          </a:p>
        </p:txBody>
      </p:sp>
      <p:grpSp>
        <p:nvGrpSpPr>
          <p:cNvPr id="67" name="Группа 66"/>
          <p:cNvGrpSpPr/>
          <p:nvPr/>
        </p:nvGrpSpPr>
        <p:grpSpPr>
          <a:xfrm>
            <a:off x="0" y="3500438"/>
            <a:ext cx="5286379" cy="3000396"/>
            <a:chOff x="1894457" y="987296"/>
            <a:chExt cx="5852943" cy="2848589"/>
          </a:xfrm>
        </p:grpSpPr>
        <p:grpSp>
          <p:nvGrpSpPr>
            <p:cNvPr id="68" name="Группа 211"/>
            <p:cNvGrpSpPr/>
            <p:nvPr/>
          </p:nvGrpSpPr>
          <p:grpSpPr>
            <a:xfrm>
              <a:off x="1894457" y="1035794"/>
              <a:ext cx="5852943" cy="2307722"/>
              <a:chOff x="376208" y="3824592"/>
              <a:chExt cx="5852943" cy="2307722"/>
            </a:xfrm>
          </p:grpSpPr>
          <p:grpSp>
            <p:nvGrpSpPr>
              <p:cNvPr id="96" name="Группа 212"/>
              <p:cNvGrpSpPr/>
              <p:nvPr/>
            </p:nvGrpSpPr>
            <p:grpSpPr>
              <a:xfrm>
                <a:off x="376208" y="4071640"/>
                <a:ext cx="5852943" cy="2060674"/>
                <a:chOff x="376208" y="4650136"/>
                <a:chExt cx="5852943" cy="2060674"/>
              </a:xfrm>
            </p:grpSpPr>
            <p:grpSp>
              <p:nvGrpSpPr>
                <p:cNvPr id="98" name="Группа 214"/>
                <p:cNvGrpSpPr/>
                <p:nvPr/>
              </p:nvGrpSpPr>
              <p:grpSpPr>
                <a:xfrm>
                  <a:off x="376208" y="4650136"/>
                  <a:ext cx="5852943" cy="2060674"/>
                  <a:chOff x="376208" y="4650136"/>
                  <a:chExt cx="5852943" cy="2060674"/>
                </a:xfrm>
              </p:grpSpPr>
              <p:grpSp>
                <p:nvGrpSpPr>
                  <p:cNvPr id="100" name="Группа 216"/>
                  <p:cNvGrpSpPr/>
                  <p:nvPr/>
                </p:nvGrpSpPr>
                <p:grpSpPr>
                  <a:xfrm>
                    <a:off x="396503" y="4650136"/>
                    <a:ext cx="5832648" cy="1641200"/>
                    <a:chOff x="5278272" y="3310726"/>
                    <a:chExt cx="5832648" cy="1641200"/>
                  </a:xfrm>
                </p:grpSpPr>
                <p:grpSp>
                  <p:nvGrpSpPr>
                    <p:cNvPr id="102" name="Группа 218"/>
                    <p:cNvGrpSpPr/>
                    <p:nvPr/>
                  </p:nvGrpSpPr>
                  <p:grpSpPr>
                    <a:xfrm>
                      <a:off x="5278272" y="3310726"/>
                      <a:ext cx="5832648" cy="1641200"/>
                      <a:chOff x="695400" y="4164064"/>
                      <a:chExt cx="5832648" cy="1641200"/>
                    </a:xfrm>
                  </p:grpSpPr>
                  <p:sp>
                    <p:nvSpPr>
                      <p:cNvPr id="104" name="Блок-схема: извлечение 103"/>
                      <p:cNvSpPr/>
                      <p:nvPr/>
                    </p:nvSpPr>
                    <p:spPr>
                      <a:xfrm>
                        <a:off x="695400" y="5445224"/>
                        <a:ext cx="288032" cy="360040"/>
                      </a:xfrm>
                      <a:prstGeom prst="flowChartExtract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>
                            <a:solidFill>
                              <a:schemeClr val="bg1"/>
                            </a:solidFill>
                          </a:rPr>
                          <a:t>1</a:t>
                        </a:r>
                        <a:endParaRPr lang="ru-RU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05" name="Блок-схема: извлечение 104"/>
                      <p:cNvSpPr/>
                      <p:nvPr/>
                    </p:nvSpPr>
                    <p:spPr>
                      <a:xfrm>
                        <a:off x="1055440" y="5445224"/>
                        <a:ext cx="288032" cy="360040"/>
                      </a:xfrm>
                      <a:prstGeom prst="flowChartExtra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>
                            <a:solidFill>
                              <a:schemeClr val="bg1"/>
                            </a:solidFill>
                          </a:rPr>
                          <a:t>2</a:t>
                        </a:r>
                        <a:endParaRPr lang="ru-RU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06" name="Блок-схема: извлечение 105"/>
                      <p:cNvSpPr/>
                      <p:nvPr/>
                    </p:nvSpPr>
                    <p:spPr>
                      <a:xfrm>
                        <a:off x="1847528" y="5445224"/>
                        <a:ext cx="288032" cy="360040"/>
                      </a:xfrm>
                      <a:prstGeom prst="flowChartExtra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>
                            <a:solidFill>
                              <a:schemeClr val="bg1"/>
                            </a:solidFill>
                          </a:rPr>
                          <a:t>9</a:t>
                        </a:r>
                        <a:endParaRPr lang="ru-RU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grpSp>
                    <p:nvGrpSpPr>
                      <p:cNvPr id="107" name="Группа 223"/>
                      <p:cNvGrpSpPr/>
                      <p:nvPr/>
                    </p:nvGrpSpPr>
                    <p:grpSpPr>
                      <a:xfrm>
                        <a:off x="3647728" y="4581128"/>
                        <a:ext cx="576064" cy="576064"/>
                        <a:chOff x="3503712" y="4653136"/>
                        <a:chExt cx="576064" cy="576064"/>
                      </a:xfrm>
                    </p:grpSpPr>
                    <p:sp>
                      <p:nvSpPr>
                        <p:cNvPr id="121" name="Овал 120"/>
                        <p:cNvSpPr/>
                        <p:nvPr/>
                      </p:nvSpPr>
                      <p:spPr>
                        <a:xfrm>
                          <a:off x="3503712" y="4653136"/>
                          <a:ext cx="576064" cy="576064"/>
                        </a:xfrm>
                        <a:prstGeom prst="ellipse">
                          <a:avLst/>
                        </a:prstGeom>
                        <a:solidFill>
                          <a:schemeClr val="bg1">
                            <a:lumMod val="65000"/>
                          </a:schemeClr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ru-RU"/>
                        </a:p>
                      </p:txBody>
                    </p:sp>
                    <p:cxnSp>
                      <p:nvCxnSpPr>
                        <p:cNvPr id="122" name="Прямая со стрелкой 121"/>
                        <p:cNvCxnSpPr/>
                        <p:nvPr/>
                      </p:nvCxnSpPr>
                      <p:spPr>
                        <a:xfrm flipV="1">
                          <a:off x="3647728" y="4797152"/>
                          <a:ext cx="288032" cy="288032"/>
                        </a:xfrm>
                        <a:prstGeom prst="straightConnector1">
                          <a:avLst/>
                        </a:prstGeom>
                        <a:ln w="38100">
                          <a:solidFill>
                            <a:schemeClr val="tx1"/>
                          </a:solidFill>
                          <a:headEnd type="none" w="med" len="med"/>
                          <a:tailEnd type="arrow" w="med" len="med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08" name="Прямая соединительная линия 107"/>
                      <p:cNvCxnSpPr>
                        <a:stCxn id="104" idx="0"/>
                      </p:cNvCxnSpPr>
                      <p:nvPr/>
                    </p:nvCxnSpPr>
                    <p:spPr>
                      <a:xfrm flipV="1">
                        <a:off x="839416" y="4581128"/>
                        <a:ext cx="0" cy="864096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9" name="Прямая соединительная линия 108"/>
                      <p:cNvCxnSpPr>
                        <a:stCxn id="105" idx="0"/>
                      </p:cNvCxnSpPr>
                      <p:nvPr/>
                    </p:nvCxnSpPr>
                    <p:spPr>
                      <a:xfrm flipV="1">
                        <a:off x="1199456" y="4869160"/>
                        <a:ext cx="0" cy="576064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0" name="Прямая соединительная линия 109"/>
                      <p:cNvCxnSpPr/>
                      <p:nvPr/>
                    </p:nvCxnSpPr>
                    <p:spPr>
                      <a:xfrm flipV="1">
                        <a:off x="1991544" y="5182892"/>
                        <a:ext cx="0" cy="262332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" name="Прямая соединительная линия 110"/>
                      <p:cNvCxnSpPr/>
                      <p:nvPr/>
                    </p:nvCxnSpPr>
                    <p:spPr>
                      <a:xfrm>
                        <a:off x="839416" y="4581128"/>
                        <a:ext cx="2808312" cy="0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" name="Прямая соединительная линия 111"/>
                      <p:cNvCxnSpPr>
                        <a:endCxn id="121" idx="2"/>
                      </p:cNvCxnSpPr>
                      <p:nvPr/>
                    </p:nvCxnSpPr>
                    <p:spPr>
                      <a:xfrm>
                        <a:off x="1199456" y="4869160"/>
                        <a:ext cx="2448272" cy="0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3" name="Прямая соединительная линия 112"/>
                      <p:cNvCxnSpPr/>
                      <p:nvPr/>
                    </p:nvCxnSpPr>
                    <p:spPr>
                      <a:xfrm>
                        <a:off x="1991544" y="5169547"/>
                        <a:ext cx="1656184" cy="0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" name="Прямая соединительная линия 113"/>
                      <p:cNvCxnSpPr>
                        <a:endCxn id="121" idx="1"/>
                      </p:cNvCxnSpPr>
                      <p:nvPr/>
                    </p:nvCxnSpPr>
                    <p:spPr>
                      <a:xfrm>
                        <a:off x="3647728" y="4581128"/>
                        <a:ext cx="84363" cy="84363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5" name="Прямая соединительная линия 114"/>
                      <p:cNvCxnSpPr/>
                      <p:nvPr/>
                    </p:nvCxnSpPr>
                    <p:spPr>
                      <a:xfrm rot="5400000">
                        <a:off x="3647728" y="5085184"/>
                        <a:ext cx="84363" cy="84363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16" name="Прямоугольник 115"/>
                      <p:cNvSpPr/>
                      <p:nvPr/>
                    </p:nvSpPr>
                    <p:spPr>
                      <a:xfrm>
                        <a:off x="4520600" y="4164064"/>
                        <a:ext cx="1367431" cy="876451"/>
                      </a:xfrm>
                      <a:prstGeom prst="rect">
                        <a:avLst/>
                      </a:prstGeom>
                      <a:solidFill>
                        <a:srgbClr val="FFCE33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ru-RU" sz="1600" dirty="0">
                            <a:solidFill>
                              <a:schemeClr val="tx1"/>
                            </a:solidFill>
                          </a:rPr>
                          <a:t>Расходомер</a:t>
                        </a:r>
                      </a:p>
                    </p:txBody>
                  </p:sp>
                  <p:cxnSp>
                    <p:nvCxnSpPr>
                      <p:cNvPr id="117" name="Прямая соединительная линия 116"/>
                      <p:cNvCxnSpPr/>
                      <p:nvPr/>
                    </p:nvCxnSpPr>
                    <p:spPr>
                      <a:xfrm>
                        <a:off x="4223792" y="4869160"/>
                        <a:ext cx="288032" cy="0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" name="Прямая соединительная линия 117"/>
                      <p:cNvCxnSpPr/>
                      <p:nvPr/>
                    </p:nvCxnSpPr>
                    <p:spPr>
                      <a:xfrm>
                        <a:off x="4139428" y="5084620"/>
                        <a:ext cx="144000" cy="144000"/>
                      </a:xfrm>
                      <a:prstGeom prst="line">
                        <a:avLst/>
                      </a:prstGeom>
                      <a:ln w="762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" name="Прямая соединительная линия 118"/>
                      <p:cNvCxnSpPr/>
                      <p:nvPr/>
                    </p:nvCxnSpPr>
                    <p:spPr>
                      <a:xfrm>
                        <a:off x="4283428" y="5228620"/>
                        <a:ext cx="2244620" cy="587"/>
                      </a:xfrm>
                      <a:prstGeom prst="line">
                        <a:avLst/>
                      </a:prstGeom>
                      <a:ln w="762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Прямая соединительная линия 119"/>
                      <p:cNvCxnSpPr/>
                      <p:nvPr/>
                    </p:nvCxnSpPr>
                    <p:spPr>
                      <a:xfrm>
                        <a:off x="5888031" y="4869160"/>
                        <a:ext cx="288032" cy="0"/>
                      </a:xfrm>
                      <a:prstGeom prst="line">
                        <a:avLst/>
                      </a:prstGeom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03" name="Прямая соединительная линия 102"/>
                    <p:cNvCxnSpPr/>
                    <p:nvPr/>
                  </p:nvCxnSpPr>
                  <p:spPr>
                    <a:xfrm flipH="1" flipV="1">
                      <a:off x="10758935" y="4007447"/>
                      <a:ext cx="0" cy="35946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1" name="TextBox 100"/>
                  <p:cNvSpPr txBox="1"/>
                  <p:nvPr/>
                </p:nvSpPr>
                <p:spPr>
                  <a:xfrm>
                    <a:off x="376208" y="6341478"/>
                    <a:ext cx="1593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ru-RU" dirty="0"/>
                      <a:t>Куст скважин</a:t>
                    </a:r>
                  </a:p>
                </p:txBody>
              </p:sp>
            </p:grpSp>
            <p:sp>
              <p:nvSpPr>
                <p:cNvPr id="99" name="TextBox 98"/>
                <p:cNvSpPr txBox="1"/>
                <p:nvPr/>
              </p:nvSpPr>
              <p:spPr>
                <a:xfrm>
                  <a:off x="1097128" y="6041091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…</a:t>
                  </a:r>
                  <a:endParaRPr lang="ru-RU" b="1" dirty="0"/>
                </a:p>
              </p:txBody>
            </p:sp>
          </p:grpSp>
          <p:sp>
            <p:nvSpPr>
              <p:cNvPr id="97" name="TextBox 96"/>
              <p:cNvSpPr txBox="1"/>
              <p:nvPr/>
            </p:nvSpPr>
            <p:spPr>
              <a:xfrm>
                <a:off x="2603341" y="3824592"/>
                <a:ext cx="17313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ru-RU" sz="1600" dirty="0"/>
                  <a:t>Гидравлический</a:t>
                </a:r>
              </a:p>
              <a:p>
                <a:pPr algn="ctr"/>
                <a:r>
                  <a:rPr lang="ru-RU" sz="1600" dirty="0"/>
                  <a:t>переключатель</a:t>
                </a:r>
              </a:p>
            </p:txBody>
          </p:sp>
        </p:grpSp>
        <p:grpSp>
          <p:nvGrpSpPr>
            <p:cNvPr id="69" name="Группа 239"/>
            <p:cNvGrpSpPr/>
            <p:nvPr/>
          </p:nvGrpSpPr>
          <p:grpSpPr>
            <a:xfrm>
              <a:off x="2600480" y="987296"/>
              <a:ext cx="4727974" cy="2848589"/>
              <a:chOff x="1082231" y="3951371"/>
              <a:chExt cx="4727974" cy="2848589"/>
            </a:xfrm>
          </p:grpSpPr>
          <p:grpSp>
            <p:nvGrpSpPr>
              <p:cNvPr id="70" name="Группа 240"/>
              <p:cNvGrpSpPr/>
              <p:nvPr/>
            </p:nvGrpSpPr>
            <p:grpSpPr>
              <a:xfrm>
                <a:off x="1082231" y="3951371"/>
                <a:ext cx="3817500" cy="2411700"/>
                <a:chOff x="5964000" y="3015180"/>
                <a:chExt cx="3817500" cy="2411700"/>
              </a:xfrm>
            </p:grpSpPr>
            <p:sp>
              <p:nvSpPr>
                <p:cNvPr id="73" name="Прямоугольник 72"/>
                <p:cNvSpPr/>
                <p:nvPr/>
              </p:nvSpPr>
              <p:spPr>
                <a:xfrm>
                  <a:off x="7830674" y="4717558"/>
                  <a:ext cx="1368152" cy="709322"/>
                </a:xfrm>
                <a:prstGeom prst="rect">
                  <a:avLst/>
                </a:prstGeom>
                <a:solidFill>
                  <a:srgbClr val="990099">
                    <a:alpha val="78824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1400" dirty="0">
                      <a:solidFill>
                        <a:schemeClr val="tx1"/>
                      </a:solidFill>
                    </a:rPr>
                    <a:t>Управляющий узел</a:t>
                  </a:r>
                </a:p>
              </p:txBody>
            </p:sp>
            <p:cxnSp>
              <p:nvCxnSpPr>
                <p:cNvPr id="74" name="Прямая со стрелкой 73"/>
                <p:cNvCxnSpPr>
                  <a:stCxn id="73" idx="3"/>
                </p:cNvCxnSpPr>
                <p:nvPr/>
              </p:nvCxnSpPr>
              <p:spPr>
                <a:xfrm>
                  <a:off x="9198826" y="5072219"/>
                  <a:ext cx="582674" cy="0"/>
                </a:xfrm>
                <a:prstGeom prst="straightConnector1">
                  <a:avLst/>
                </a:prstGeom>
                <a:ln w="19050">
                  <a:solidFill>
                    <a:srgbClr val="FF1919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Прямая со стрелкой 74"/>
                <p:cNvCxnSpPr/>
                <p:nvPr/>
              </p:nvCxnSpPr>
              <p:spPr>
                <a:xfrm flipV="1">
                  <a:off x="9781500" y="4187177"/>
                  <a:ext cx="0" cy="885042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Прямая со стрелкой 75"/>
                <p:cNvCxnSpPr/>
                <p:nvPr/>
              </p:nvCxnSpPr>
              <p:spPr>
                <a:xfrm flipV="1">
                  <a:off x="8544272" y="4293096"/>
                  <a:ext cx="0" cy="43200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7" name="Группа 247"/>
                <p:cNvGrpSpPr/>
                <p:nvPr/>
              </p:nvGrpSpPr>
              <p:grpSpPr>
                <a:xfrm>
                  <a:off x="6817203" y="3622000"/>
                  <a:ext cx="404080" cy="194161"/>
                  <a:chOff x="3876107" y="5449386"/>
                  <a:chExt cx="540384" cy="298781"/>
                </a:xfrm>
              </p:grpSpPr>
              <p:sp>
                <p:nvSpPr>
                  <p:cNvPr id="93" name="Прямоугольник 92"/>
                  <p:cNvSpPr/>
                  <p:nvPr/>
                </p:nvSpPr>
                <p:spPr>
                  <a:xfrm>
                    <a:off x="3923396" y="5517232"/>
                    <a:ext cx="432048" cy="154774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4" name="Прямоугольник 93"/>
                  <p:cNvSpPr/>
                  <p:nvPr/>
                </p:nvSpPr>
                <p:spPr>
                  <a:xfrm>
                    <a:off x="3876107" y="5460087"/>
                    <a:ext cx="59653" cy="288080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5" name="Прямоугольник 94"/>
                  <p:cNvSpPr/>
                  <p:nvPr/>
                </p:nvSpPr>
                <p:spPr>
                  <a:xfrm>
                    <a:off x="4356838" y="5449386"/>
                    <a:ext cx="59653" cy="288080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cxnSp>
              <p:nvCxnSpPr>
                <p:cNvPr id="78" name="Прямая со стрелкой 77"/>
                <p:cNvCxnSpPr/>
                <p:nvPr/>
              </p:nvCxnSpPr>
              <p:spPr>
                <a:xfrm flipV="1">
                  <a:off x="7104112" y="4375282"/>
                  <a:ext cx="0" cy="576644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Прямая со стрелкой 78"/>
                <p:cNvCxnSpPr/>
                <p:nvPr/>
              </p:nvCxnSpPr>
              <p:spPr>
                <a:xfrm flipV="1">
                  <a:off x="7032104" y="4079771"/>
                  <a:ext cx="0" cy="992448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Прямая со стрелкой 79"/>
                <p:cNvCxnSpPr/>
                <p:nvPr/>
              </p:nvCxnSpPr>
              <p:spPr>
                <a:xfrm flipV="1">
                  <a:off x="6960096" y="3766668"/>
                  <a:ext cx="0" cy="1390524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1" name="Группа 251"/>
                <p:cNvGrpSpPr/>
                <p:nvPr/>
              </p:nvGrpSpPr>
              <p:grpSpPr>
                <a:xfrm>
                  <a:off x="6817203" y="3935103"/>
                  <a:ext cx="404080" cy="194161"/>
                  <a:chOff x="3876107" y="5449386"/>
                  <a:chExt cx="540384" cy="298781"/>
                </a:xfrm>
              </p:grpSpPr>
              <p:sp>
                <p:nvSpPr>
                  <p:cNvPr id="90" name="Прямоугольник 89"/>
                  <p:cNvSpPr/>
                  <p:nvPr/>
                </p:nvSpPr>
                <p:spPr>
                  <a:xfrm>
                    <a:off x="3923396" y="5517232"/>
                    <a:ext cx="432048" cy="154774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1" name="Прямоугольник 90"/>
                  <p:cNvSpPr/>
                  <p:nvPr/>
                </p:nvSpPr>
                <p:spPr>
                  <a:xfrm>
                    <a:off x="3876107" y="5460087"/>
                    <a:ext cx="59653" cy="288080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92" name="Прямоугольник 91"/>
                  <p:cNvSpPr/>
                  <p:nvPr/>
                </p:nvSpPr>
                <p:spPr>
                  <a:xfrm>
                    <a:off x="4356838" y="5449386"/>
                    <a:ext cx="59653" cy="288080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grpSp>
              <p:nvGrpSpPr>
                <p:cNvPr id="82" name="Группа 252"/>
                <p:cNvGrpSpPr/>
                <p:nvPr/>
              </p:nvGrpSpPr>
              <p:grpSpPr>
                <a:xfrm>
                  <a:off x="6817203" y="4231844"/>
                  <a:ext cx="404080" cy="194161"/>
                  <a:chOff x="3876107" y="5449386"/>
                  <a:chExt cx="540384" cy="298781"/>
                </a:xfrm>
              </p:grpSpPr>
              <p:sp>
                <p:nvSpPr>
                  <p:cNvPr id="87" name="Прямоугольник 86"/>
                  <p:cNvSpPr/>
                  <p:nvPr/>
                </p:nvSpPr>
                <p:spPr>
                  <a:xfrm>
                    <a:off x="3923396" y="5517232"/>
                    <a:ext cx="432048" cy="154774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88" name="Прямоугольник 87"/>
                  <p:cNvSpPr/>
                  <p:nvPr/>
                </p:nvSpPr>
                <p:spPr>
                  <a:xfrm>
                    <a:off x="3876107" y="5460087"/>
                    <a:ext cx="59653" cy="288080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89" name="Прямоугольник 88"/>
                  <p:cNvSpPr/>
                  <p:nvPr/>
                </p:nvSpPr>
                <p:spPr>
                  <a:xfrm>
                    <a:off x="4356838" y="5449386"/>
                    <a:ext cx="59653" cy="288080"/>
                  </a:xfrm>
                  <a:prstGeom prst="rect">
                    <a:avLst/>
                  </a:prstGeom>
                  <a:solidFill>
                    <a:srgbClr val="FA8B3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cxnSp>
              <p:nvCxnSpPr>
                <p:cNvPr id="83" name="Прямая со стрелкой 82"/>
                <p:cNvCxnSpPr/>
                <p:nvPr/>
              </p:nvCxnSpPr>
              <p:spPr>
                <a:xfrm>
                  <a:off x="7032104" y="5072219"/>
                  <a:ext cx="798570" cy="0"/>
                </a:xfrm>
                <a:prstGeom prst="straightConnector1">
                  <a:avLst/>
                </a:prstGeom>
                <a:ln w="19050">
                  <a:solidFill>
                    <a:srgbClr val="FF1919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Прямая со стрелкой 83"/>
                <p:cNvCxnSpPr/>
                <p:nvPr/>
              </p:nvCxnSpPr>
              <p:spPr>
                <a:xfrm>
                  <a:off x="6960096" y="5157192"/>
                  <a:ext cx="870578" cy="0"/>
                </a:xfrm>
                <a:prstGeom prst="straightConnector1">
                  <a:avLst/>
                </a:prstGeom>
                <a:ln w="19050">
                  <a:solidFill>
                    <a:srgbClr val="FF1919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Прямая со стрелкой 84"/>
                <p:cNvCxnSpPr/>
                <p:nvPr/>
              </p:nvCxnSpPr>
              <p:spPr>
                <a:xfrm>
                  <a:off x="7104112" y="4964813"/>
                  <a:ext cx="726562" cy="0"/>
                </a:xfrm>
                <a:prstGeom prst="straightConnector1">
                  <a:avLst/>
                </a:prstGeom>
                <a:ln w="19050">
                  <a:solidFill>
                    <a:srgbClr val="FF1919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TextBox 85"/>
                <p:cNvSpPr txBox="1"/>
                <p:nvPr/>
              </p:nvSpPr>
              <p:spPr>
                <a:xfrm>
                  <a:off x="5964000" y="3015180"/>
                  <a:ext cx="20749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1600" dirty="0"/>
                    <a:t>Устьевые</a:t>
                  </a:r>
                </a:p>
                <a:p>
                  <a:pPr algn="ctr"/>
                  <a:r>
                    <a:rPr lang="ru-RU" sz="1600" dirty="0"/>
                    <a:t>модули</a:t>
                  </a:r>
                </a:p>
              </p:txBody>
            </p:sp>
          </p:grpSp>
          <p:cxnSp>
            <p:nvCxnSpPr>
              <p:cNvPr id="71" name="Прямая со стрелкой 70"/>
              <p:cNvCxnSpPr/>
              <p:nvPr/>
            </p:nvCxnSpPr>
            <p:spPr>
              <a:xfrm>
                <a:off x="4317057" y="6187680"/>
                <a:ext cx="136246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/>
              <p:cNvSpPr txBox="1"/>
              <p:nvPr/>
            </p:nvSpPr>
            <p:spPr>
              <a:xfrm>
                <a:off x="4280619" y="6215185"/>
                <a:ext cx="15295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ru-RU" sz="1600" dirty="0"/>
                  <a:t>Непрерывные</a:t>
                </a:r>
              </a:p>
              <a:p>
                <a:pPr algn="ctr"/>
                <a:r>
                  <a:rPr lang="ru-RU" sz="1600" dirty="0"/>
                  <a:t>замеры</a:t>
                </a:r>
              </a:p>
            </p:txBody>
          </p:sp>
        </p:grpSp>
      </p:grpSp>
      <p:sp>
        <p:nvSpPr>
          <p:cNvPr id="123" name="Прямоугольник 122"/>
          <p:cNvSpPr/>
          <p:nvPr/>
        </p:nvSpPr>
        <p:spPr>
          <a:xfrm>
            <a:off x="5429256" y="3429000"/>
            <a:ext cx="3500462" cy="321471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</a:rPr>
              <a:t>Минимизация</a:t>
            </a:r>
            <a:r>
              <a:rPr lang="ru-RU" sz="2400" dirty="0">
                <a:solidFill>
                  <a:schemeClr val="tx1"/>
                </a:solidFill>
              </a:rPr>
              <a:t> потерь информации</a:t>
            </a:r>
          </a:p>
          <a:p>
            <a:pPr>
              <a:buFont typeface="Arial" pitchFamily="34" charset="0"/>
              <a:buChar char="•"/>
            </a:pPr>
            <a:endParaRPr lang="ru-RU" sz="2400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ru-RU" sz="2400" b="1" dirty="0">
                <a:solidFill>
                  <a:schemeClr val="tx1"/>
                </a:solidFill>
              </a:rPr>
              <a:t>Экономия</a:t>
            </a:r>
            <a:r>
              <a:rPr lang="ru-RU" sz="2400" dirty="0">
                <a:solidFill>
                  <a:schemeClr val="tx1"/>
                </a:solidFill>
              </a:rPr>
              <a:t> ресурса запорной арматуры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/>
          <a:lstStyle/>
          <a:p>
            <a:r>
              <a:rPr lang="ru-RU" dirty="0"/>
              <a:t>Информационный подход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1643050"/>
            <a:ext cx="9144000" cy="26776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ru-RU" sz="2400" dirty="0"/>
              <a:t>Измерительная система генерирует </a:t>
            </a:r>
            <a:r>
              <a:rPr lang="ru-RU" sz="2400" b="1" dirty="0"/>
              <a:t>поток информации </a:t>
            </a:r>
            <a:r>
              <a:rPr lang="ru-RU" sz="2400" dirty="0"/>
              <a:t>– число бит в единицу времени.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400" b="1" dirty="0"/>
              <a:t>Информация</a:t>
            </a:r>
            <a:r>
              <a:rPr lang="ru-RU" sz="2400" dirty="0"/>
              <a:t> генерируется в моменты </a:t>
            </a:r>
            <a:r>
              <a:rPr lang="ru-RU" sz="2400" b="1" dirty="0"/>
              <a:t>изменения</a:t>
            </a:r>
            <a:r>
              <a:rPr lang="ru-RU" sz="2400" dirty="0"/>
              <a:t> параметров.</a:t>
            </a:r>
          </a:p>
          <a:p>
            <a:pPr lvl="0">
              <a:buFont typeface="Arial" pitchFamily="34" charset="0"/>
              <a:buChar char="•"/>
            </a:pPr>
            <a:r>
              <a:rPr lang="ru-RU" sz="2400" b="1" dirty="0"/>
              <a:t>Энтропия </a:t>
            </a:r>
            <a:r>
              <a:rPr lang="en-US" sz="2400" b="1" dirty="0"/>
              <a:t>H</a:t>
            </a:r>
            <a:r>
              <a:rPr lang="ru-RU" sz="2400" dirty="0"/>
              <a:t>, как мера информационной емкости – необходимого для кодирования события с заданной точностью количества битов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54" name="TextBox 53"/>
          <p:cNvSpPr txBox="1"/>
          <p:nvPr/>
        </p:nvSpPr>
        <p:spPr>
          <a:xfrm>
            <a:off x="0" y="4286256"/>
            <a:ext cx="9144000" cy="22467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800" b="1" dirty="0"/>
              <a:t>Поток информации</a:t>
            </a:r>
            <a:r>
              <a:rPr lang="ru-RU" sz="2800" dirty="0"/>
              <a:t> дает количественный критерий информативности замерных систем.</a:t>
            </a:r>
          </a:p>
          <a:p>
            <a:pPr>
              <a:buFont typeface="Arial" pitchFamily="34" charset="0"/>
              <a:buChar char="•"/>
            </a:pPr>
            <a:r>
              <a:rPr lang="ru-RU" sz="2800" b="1" dirty="0"/>
              <a:t>Задача проектирования замерных систем </a:t>
            </a:r>
            <a:r>
              <a:rPr lang="ru-RU" sz="2800" dirty="0"/>
              <a:t>– </a:t>
            </a:r>
            <a:r>
              <a:rPr lang="ru-RU" sz="2800" u="sng" dirty="0"/>
              <a:t>минимизация потерь </a:t>
            </a:r>
            <a:r>
              <a:rPr lang="ru-RU" sz="2800" dirty="0"/>
              <a:t>информации при </a:t>
            </a:r>
            <a:r>
              <a:rPr lang="ru-RU" sz="2800" u="sng" dirty="0"/>
              <a:t>ограниченной себестоимости.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ru-RU" dirty="0"/>
              <a:t>Определение события</a:t>
            </a:r>
          </a:p>
        </p:txBody>
      </p:sp>
      <p:pic>
        <p:nvPicPr>
          <p:cNvPr id="6" name="Picture 2" descr="Доверительный конус"/>
          <p:cNvPicPr>
            <a:picLocks noChangeAspect="1" noChangeArrowheads="1"/>
          </p:cNvPicPr>
          <p:nvPr/>
        </p:nvPicPr>
        <p:blipFill>
          <a:blip r:embed="rId2"/>
          <a:srcRect l="5267" t="8916" r="10445" b="4903"/>
          <a:stretch>
            <a:fillRect/>
          </a:stretch>
        </p:blipFill>
        <p:spPr bwMode="auto">
          <a:xfrm>
            <a:off x="1500166" y="1643050"/>
            <a:ext cx="6429420" cy="27146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0" y="4572008"/>
            <a:ext cx="9144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000" dirty="0"/>
              <a:t>На основе точных замеров с помощью регрессии строится </a:t>
            </a:r>
            <a:r>
              <a:rPr lang="ru-RU" sz="2000" b="1" dirty="0"/>
              <a:t>конус достоверности</a:t>
            </a:r>
            <a:r>
              <a:rPr lang="ru-RU" sz="2000" dirty="0"/>
              <a:t>, расширяющийся со временем;</a:t>
            </a:r>
          </a:p>
          <a:p>
            <a:pPr>
              <a:buFont typeface="Arial" pitchFamily="34" charset="0"/>
              <a:buChar char="•"/>
            </a:pPr>
            <a:r>
              <a:rPr lang="ru-RU" sz="2000" b="1" dirty="0"/>
              <a:t>Событие №1</a:t>
            </a:r>
            <a:r>
              <a:rPr lang="ru-RU" sz="2000" dirty="0"/>
              <a:t>: замер выходит за границы конуса;</a:t>
            </a:r>
          </a:p>
          <a:p>
            <a:pPr>
              <a:buFont typeface="Arial" pitchFamily="34" charset="0"/>
              <a:buChar char="•"/>
            </a:pPr>
            <a:r>
              <a:rPr lang="ru-RU" sz="2000" b="1" dirty="0"/>
              <a:t>Событие №2</a:t>
            </a:r>
            <a:r>
              <a:rPr lang="ru-RU" sz="2000" dirty="0"/>
              <a:t>: конус расширился настолько, что необходимо его </a:t>
            </a:r>
            <a:r>
              <a:rPr lang="ru-RU" sz="2000" dirty="0" err="1"/>
              <a:t>перекалибровывать</a:t>
            </a:r>
            <a:r>
              <a:rPr lang="ru-RU" sz="2000" dirty="0"/>
              <a:t>, переключая на данную скважину точный расходомер.</a:t>
            </a:r>
          </a:p>
        </p:txBody>
      </p:sp>
      <p:sp>
        <p:nvSpPr>
          <p:cNvPr id="8" name="Овал 7"/>
          <p:cNvSpPr/>
          <p:nvPr/>
        </p:nvSpPr>
        <p:spPr>
          <a:xfrm>
            <a:off x="7358082" y="2786058"/>
            <a:ext cx="500066" cy="7143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6357950" y="2500306"/>
            <a:ext cx="500066" cy="7143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ая выноска 9"/>
          <p:cNvSpPr/>
          <p:nvPr/>
        </p:nvSpPr>
        <p:spPr>
          <a:xfrm>
            <a:off x="7429520" y="2143116"/>
            <a:ext cx="1571636" cy="571504"/>
          </a:xfrm>
          <a:prstGeom prst="wedgeRect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Событие №2</a:t>
            </a:r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5643570" y="1928802"/>
            <a:ext cx="1500198" cy="428628"/>
          </a:xfrm>
          <a:prstGeom prst="wedgeRectCallout">
            <a:avLst>
              <a:gd name="adj1" fmla="val 19782"/>
              <a:gd name="adj2" fmla="val 9400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Событие №1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ru-RU" dirty="0"/>
              <a:t>Сравнение</a:t>
            </a:r>
          </a:p>
        </p:txBody>
      </p:sp>
      <p:pic>
        <p:nvPicPr>
          <p:cNvPr id="6" name="Picture 2" descr="SchSw_FM_Qg_Sum"/>
          <p:cNvPicPr>
            <a:picLocks noChangeAspect="1" noChangeArrowheads="1"/>
          </p:cNvPicPr>
          <p:nvPr/>
        </p:nvPicPr>
        <p:blipFill>
          <a:blip r:embed="rId2"/>
          <a:srcRect l="7088" t="3239" r="11769" b="3729"/>
          <a:stretch>
            <a:fillRect/>
          </a:stretch>
        </p:blipFill>
        <p:spPr bwMode="auto">
          <a:xfrm>
            <a:off x="214282" y="1643050"/>
            <a:ext cx="4324350" cy="3451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" descr="OndemSw_FM_Qg_Sum"/>
          <p:cNvPicPr>
            <a:picLocks noChangeAspect="1" noChangeArrowheads="1"/>
          </p:cNvPicPr>
          <p:nvPr/>
        </p:nvPicPr>
        <p:blipFill>
          <a:blip r:embed="rId3"/>
          <a:srcRect l="6912" t="2986" r="12109" b="3729"/>
          <a:stretch>
            <a:fillRect/>
          </a:stretch>
        </p:blipFill>
        <p:spPr bwMode="auto">
          <a:xfrm>
            <a:off x="4500562" y="1643050"/>
            <a:ext cx="4230688" cy="34290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1" name="Прямоугольник 10"/>
          <p:cNvSpPr/>
          <p:nvPr/>
        </p:nvSpPr>
        <p:spPr>
          <a:xfrm>
            <a:off x="285720" y="5429264"/>
            <a:ext cx="8572560" cy="12144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Система мониторинга, </a:t>
            </a:r>
            <a:r>
              <a:rPr lang="ru-RU" sz="2400" b="1" dirty="0">
                <a:solidFill>
                  <a:schemeClr val="tx1"/>
                </a:solidFill>
              </a:rPr>
              <a:t>переключающаяся по событиям</a:t>
            </a:r>
            <a:r>
              <a:rPr lang="ru-RU" sz="2400" dirty="0">
                <a:solidFill>
                  <a:schemeClr val="tx1"/>
                </a:solidFill>
              </a:rPr>
              <a:t>, значительно превосходит переключающуюся по расписанию по полноте информации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786710" y="1643050"/>
            <a:ext cx="928694" cy="214314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FF0000"/>
                </a:solidFill>
              </a:rPr>
              <a:t>событиям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ru-RU" dirty="0"/>
              <a:t>Результаты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643050"/>
            <a:ext cx="7786742" cy="3500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8" name="Прямая соединительная линия 7"/>
          <p:cNvCxnSpPr>
            <a:stCxn id="6" idx="0"/>
            <a:endCxn id="6" idx="2"/>
          </p:cNvCxnSpPr>
          <p:nvPr/>
        </p:nvCxnSpPr>
        <p:spPr>
          <a:xfrm rot="16200000" flipH="1">
            <a:off x="2786050" y="3393281"/>
            <a:ext cx="3500462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3143240" y="1857364"/>
            <a:ext cx="1428760" cy="30718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7000892" y="1857364"/>
            <a:ext cx="1428760" cy="30718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642910" y="5429264"/>
            <a:ext cx="7858180" cy="12144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Система мониторинга, </a:t>
            </a:r>
            <a:r>
              <a:rPr lang="ru-RU" sz="2400" b="1" dirty="0">
                <a:solidFill>
                  <a:schemeClr val="tx1"/>
                </a:solidFill>
              </a:rPr>
              <a:t>переключающаяся по событиям</a:t>
            </a:r>
            <a:r>
              <a:rPr lang="ru-RU" sz="2400" dirty="0">
                <a:solidFill>
                  <a:schemeClr val="tx1"/>
                </a:solidFill>
              </a:rPr>
              <a:t>, значительно превосходит переключающуюся по расписанию по полноте информации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ru-RU" dirty="0"/>
              <a:t>Разработка комплексного ПО </a:t>
            </a:r>
            <a:br>
              <a:rPr lang="ru-RU" dirty="0"/>
            </a:br>
            <a:endParaRPr lang="ru-RU" sz="31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643050"/>
            <a:ext cx="91440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400" u="sng" dirty="0"/>
              <a:t>Модуль загрузки данных</a:t>
            </a:r>
            <a:r>
              <a:rPr lang="ru-RU" sz="2400" dirty="0"/>
              <a:t>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Надстройка над </a:t>
            </a:r>
            <a:r>
              <a:rPr lang="en-US" dirty="0"/>
              <a:t>SCADA;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Загрузка данных всех замерных систем</a:t>
            </a:r>
            <a:r>
              <a:rPr lang="en-US" dirty="0"/>
              <a:t>;</a:t>
            </a:r>
            <a:endParaRPr lang="ru-RU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Паспорта для каждой скважины и куста</a:t>
            </a:r>
            <a:r>
              <a:rPr lang="en-US" dirty="0"/>
              <a:t>;</a:t>
            </a:r>
            <a:endParaRPr lang="ru-RU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Визуализация данных</a:t>
            </a:r>
            <a:r>
              <a:rPr lang="en-US" dirty="0"/>
              <a:t>.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sz="2400" u="sng" dirty="0"/>
              <a:t>Модуль анализа данных: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Пересчет </a:t>
            </a:r>
            <a:r>
              <a:rPr lang="en-US" b="1" dirty="0"/>
              <a:t>P, T</a:t>
            </a:r>
            <a:r>
              <a:rPr lang="ru-RU" b="1" dirty="0"/>
              <a:t> + доп. датчики</a:t>
            </a:r>
            <a:r>
              <a:rPr lang="en-US" b="1" dirty="0"/>
              <a:t> </a:t>
            </a:r>
            <a:r>
              <a:rPr lang="ru-RU" dirty="0"/>
              <a:t>в дебиты</a:t>
            </a:r>
            <a:r>
              <a:rPr lang="en-US" dirty="0"/>
              <a:t>;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Расчет тех. режимов</a:t>
            </a:r>
            <a:r>
              <a:rPr lang="en-US" dirty="0"/>
              <a:t>;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Решение оптимизационных задач.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u="sng" dirty="0"/>
              <a:t>Составление отчетов: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 err="1"/>
              <a:t>Шахматки</a:t>
            </a:r>
            <a:r>
              <a:rPr lang="en-US" dirty="0"/>
              <a:t>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Заполнение паспортов скважин</a:t>
            </a:r>
            <a:r>
              <a:rPr lang="en-US" dirty="0"/>
              <a:t>;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Утверждение тех. режимов.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sz="2400" u="sng" dirty="0"/>
              <a:t>Реализация системы переключения по событиям: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Диспетчеризация переключений</a:t>
            </a:r>
            <a:r>
              <a:rPr lang="en-US" dirty="0"/>
              <a:t>;</a:t>
            </a:r>
            <a:endParaRPr lang="ru-RU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ru-RU" dirty="0"/>
              <a:t>Составление журнала событий.</a:t>
            </a:r>
          </a:p>
          <a:p>
            <a:pPr marL="800100" lvl="1" indent="-342900">
              <a:buFont typeface="Arial" pitchFamily="34" charset="0"/>
              <a:buChar char="•"/>
            </a:pP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endParaRPr lang="ru-RU" dirty="0"/>
          </a:p>
          <a:p>
            <a:pPr marL="800100" lvl="1" indent="-342900">
              <a:buFont typeface="Arial" pitchFamily="34" charset="0"/>
              <a:buChar char="•"/>
            </a:pP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5794"/>
          </a:xfrm>
          <a:solidFill>
            <a:schemeClr val="accent1">
              <a:alpha val="50000"/>
            </a:schemeClr>
          </a:solidFill>
          <a:ln w="15875"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ru-RU" dirty="0"/>
              <a:t>Система распределенного мониторинга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428992" y="1142984"/>
            <a:ext cx="2071702" cy="12144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Непрерывные замеры расходомером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85720" y="2643182"/>
            <a:ext cx="5214974" cy="500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ПО, организующее </a:t>
            </a:r>
            <a:r>
              <a:rPr lang="ru-RU" b="1" dirty="0">
                <a:solidFill>
                  <a:schemeClr val="tx1"/>
                </a:solidFill>
              </a:rPr>
              <a:t>переключение</a:t>
            </a:r>
            <a:r>
              <a:rPr lang="ru-RU" dirty="0">
                <a:solidFill>
                  <a:schemeClr val="tx1"/>
                </a:solidFill>
              </a:rPr>
              <a:t> расходомера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85720" y="3786190"/>
            <a:ext cx="8643998" cy="6429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Хранение всей информации: </a:t>
            </a:r>
            <a:r>
              <a:rPr lang="en-US" b="1" dirty="0">
                <a:solidFill>
                  <a:schemeClr val="tx1"/>
                </a:solidFill>
              </a:rPr>
              <a:t>SCADA, </a:t>
            </a:r>
            <a:r>
              <a:rPr lang="ru-RU" b="1" dirty="0">
                <a:solidFill>
                  <a:schemeClr val="tx1"/>
                </a:solidFill>
              </a:rPr>
              <a:t>пользовательский уровень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 rot="5400000">
            <a:off x="4893471" y="2035959"/>
            <a:ext cx="2500330" cy="158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rot="10800000">
            <a:off x="0" y="3286124"/>
            <a:ext cx="6143636" cy="158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Группа 47"/>
          <p:cNvGrpSpPr/>
          <p:nvPr/>
        </p:nvGrpSpPr>
        <p:grpSpPr>
          <a:xfrm>
            <a:off x="285720" y="785794"/>
            <a:ext cx="2428892" cy="1714512"/>
            <a:chOff x="285720" y="785794"/>
            <a:chExt cx="2428892" cy="1714512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285720" y="1142984"/>
              <a:ext cx="2428892" cy="13573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Замеры </a:t>
              </a:r>
              <a:r>
                <a:rPr lang="en-US" b="1" dirty="0">
                  <a:solidFill>
                    <a:schemeClr val="tx1"/>
                  </a:solidFill>
                </a:rPr>
                <a:t>P</a:t>
              </a:r>
              <a:r>
                <a:rPr lang="ru-RU" b="1" dirty="0">
                  <a:solidFill>
                    <a:schemeClr val="tx1"/>
                  </a:solidFill>
                </a:rPr>
                <a:t>, </a:t>
              </a:r>
              <a:r>
                <a:rPr lang="en-US" b="1" dirty="0">
                  <a:solidFill>
                    <a:schemeClr val="tx1"/>
                  </a:solidFill>
                </a:rPr>
                <a:t>T</a:t>
              </a:r>
              <a:endParaRPr lang="ru-RU" dirty="0">
                <a:solidFill>
                  <a:schemeClr val="tx1"/>
                </a:solidFill>
              </a:endParaRPr>
            </a:p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Доп. датчики </a:t>
              </a:r>
            </a:p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Обратная связь</a:t>
              </a:r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285720" y="785794"/>
              <a:ext cx="2428892" cy="3571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b="1" dirty="0">
                  <a:solidFill>
                    <a:srgbClr val="FF0000"/>
                  </a:solidFill>
                </a:rPr>
                <a:t>Скважина</a:t>
              </a:r>
            </a:p>
          </p:txBody>
        </p:sp>
      </p:grpSp>
      <p:sp>
        <p:nvSpPr>
          <p:cNvPr id="17" name="Прямоугольник 16"/>
          <p:cNvSpPr/>
          <p:nvPr/>
        </p:nvSpPr>
        <p:spPr>
          <a:xfrm>
            <a:off x="3428992" y="785794"/>
            <a:ext cx="207170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FF0000"/>
                </a:solidFill>
              </a:rPr>
              <a:t>Куст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6643702" y="785794"/>
            <a:ext cx="2071702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FF0000"/>
                </a:solidFill>
              </a:rPr>
              <a:t>Месторождение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6643702" y="1142984"/>
            <a:ext cx="2071702" cy="12144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Суммарный замер на ДНС/УКПГ</a:t>
            </a:r>
          </a:p>
        </p:txBody>
      </p:sp>
      <p:grpSp>
        <p:nvGrpSpPr>
          <p:cNvPr id="31" name="Группа 30"/>
          <p:cNvGrpSpPr/>
          <p:nvPr/>
        </p:nvGrpSpPr>
        <p:grpSpPr>
          <a:xfrm>
            <a:off x="2285984" y="2285992"/>
            <a:ext cx="144464" cy="428628"/>
            <a:chOff x="1357290" y="2285992"/>
            <a:chExt cx="144464" cy="428628"/>
          </a:xfrm>
        </p:grpSpPr>
        <p:cxnSp>
          <p:nvCxnSpPr>
            <p:cNvPr id="21" name="Прямая со стрелкой 20"/>
            <p:cNvCxnSpPr/>
            <p:nvPr/>
          </p:nvCxnSpPr>
          <p:spPr>
            <a:xfrm rot="5400000">
              <a:off x="1143770" y="2499512"/>
              <a:ext cx="428628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/>
            <p:nvPr/>
          </p:nvCxnSpPr>
          <p:spPr>
            <a:xfrm rot="5400000" flipH="1" flipV="1">
              <a:off x="1286646" y="2499512"/>
              <a:ext cx="428628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Группа 31"/>
          <p:cNvGrpSpPr/>
          <p:nvPr/>
        </p:nvGrpSpPr>
        <p:grpSpPr>
          <a:xfrm>
            <a:off x="4357686" y="2285992"/>
            <a:ext cx="144464" cy="428628"/>
            <a:chOff x="1357290" y="2285992"/>
            <a:chExt cx="144464" cy="428628"/>
          </a:xfrm>
        </p:grpSpPr>
        <p:cxnSp>
          <p:nvCxnSpPr>
            <p:cNvPr id="33" name="Прямая со стрелкой 32"/>
            <p:cNvCxnSpPr/>
            <p:nvPr/>
          </p:nvCxnSpPr>
          <p:spPr>
            <a:xfrm rot="5400000">
              <a:off x="1143770" y="2499512"/>
              <a:ext cx="428628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/>
            <p:cNvCxnSpPr/>
            <p:nvPr/>
          </p:nvCxnSpPr>
          <p:spPr>
            <a:xfrm rot="5400000" flipH="1" flipV="1">
              <a:off x="1286646" y="2499512"/>
              <a:ext cx="428628" cy="158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9"/>
          <p:cNvGrpSpPr>
            <a:grpSpLocks/>
          </p:cNvGrpSpPr>
          <p:nvPr/>
        </p:nvGrpSpPr>
        <p:grpSpPr bwMode="auto">
          <a:xfrm>
            <a:off x="357158" y="3429000"/>
            <a:ext cx="5715040" cy="387350"/>
            <a:chOff x="1981" y="2407"/>
            <a:chExt cx="1667" cy="132"/>
          </a:xfrm>
        </p:grpSpPr>
        <p:sp>
          <p:nvSpPr>
            <p:cNvPr id="36" name="Line 10"/>
            <p:cNvSpPr>
              <a:spLocks noChangeShapeType="1"/>
            </p:cNvSpPr>
            <p:nvPr/>
          </p:nvSpPr>
          <p:spPr bwMode="blackWhite">
            <a:xfrm>
              <a:off x="1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37" name="Line 11"/>
            <p:cNvSpPr>
              <a:spLocks noChangeShapeType="1"/>
            </p:cNvSpPr>
            <p:nvPr/>
          </p:nvSpPr>
          <p:spPr bwMode="blackWhite">
            <a:xfrm>
              <a:off x="2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38" name="Line 12"/>
            <p:cNvSpPr>
              <a:spLocks noChangeShapeType="1"/>
            </p:cNvSpPr>
            <p:nvPr/>
          </p:nvSpPr>
          <p:spPr bwMode="blackWhite">
            <a:xfrm>
              <a:off x="2647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39" name="Line 13"/>
            <p:cNvSpPr>
              <a:spLocks noChangeShapeType="1"/>
            </p:cNvSpPr>
            <p:nvPr/>
          </p:nvSpPr>
          <p:spPr bwMode="blackWhite">
            <a:xfrm>
              <a:off x="2981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blackWhite">
            <a:xfrm>
              <a:off x="3314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41" name="Line 15"/>
            <p:cNvSpPr>
              <a:spLocks noChangeShapeType="1"/>
            </p:cNvSpPr>
            <p:nvPr/>
          </p:nvSpPr>
          <p:spPr bwMode="blackWhite">
            <a:xfrm>
              <a:off x="3648" y="2407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</p:grpSp>
      <p:cxnSp>
        <p:nvCxnSpPr>
          <p:cNvPr id="45" name="Прямая со стрелкой 44"/>
          <p:cNvCxnSpPr>
            <a:stCxn id="19" idx="2"/>
          </p:cNvCxnSpPr>
          <p:nvPr/>
        </p:nvCxnSpPr>
        <p:spPr>
          <a:xfrm rot="16200000" flipH="1">
            <a:off x="7000892" y="3036090"/>
            <a:ext cx="1357322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Группа 49"/>
          <p:cNvGrpSpPr/>
          <p:nvPr/>
        </p:nvGrpSpPr>
        <p:grpSpPr>
          <a:xfrm>
            <a:off x="285720" y="4714884"/>
            <a:ext cx="2428892" cy="1714512"/>
            <a:chOff x="285720" y="785794"/>
            <a:chExt cx="2428892" cy="1714512"/>
          </a:xfrm>
        </p:grpSpPr>
        <p:sp>
          <p:nvSpPr>
            <p:cNvPr id="51" name="Прямоугольник 50"/>
            <p:cNvSpPr/>
            <p:nvPr/>
          </p:nvSpPr>
          <p:spPr>
            <a:xfrm>
              <a:off x="285720" y="1142984"/>
              <a:ext cx="2428892" cy="13573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Нефть/газ  на реализацию</a:t>
              </a:r>
            </a:p>
            <a:p>
              <a:pPr>
                <a:buFont typeface="Arial" pitchFamily="34" charset="0"/>
                <a:buChar char="•"/>
              </a:pPr>
              <a:r>
                <a:rPr lang="ru-RU" dirty="0" err="1">
                  <a:solidFill>
                    <a:schemeClr val="tx1"/>
                  </a:solidFill>
                </a:rPr>
                <a:t>Шахматки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</a:p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Сводный отчет</a:t>
              </a:r>
            </a:p>
          </p:txBody>
        </p:sp>
        <p:sp>
          <p:nvSpPr>
            <p:cNvPr id="52" name="Прямоугольник 51"/>
            <p:cNvSpPr/>
            <p:nvPr/>
          </p:nvSpPr>
          <p:spPr>
            <a:xfrm>
              <a:off x="285720" y="785794"/>
              <a:ext cx="2428892" cy="3571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b="1" dirty="0">
                  <a:solidFill>
                    <a:srgbClr val="FF0000"/>
                  </a:solidFill>
                </a:rPr>
                <a:t>Отчетность</a:t>
              </a:r>
            </a:p>
          </p:txBody>
        </p:sp>
      </p:grpSp>
      <p:grpSp>
        <p:nvGrpSpPr>
          <p:cNvPr id="53" name="Группа 52"/>
          <p:cNvGrpSpPr/>
          <p:nvPr/>
        </p:nvGrpSpPr>
        <p:grpSpPr>
          <a:xfrm>
            <a:off x="3143240" y="4714884"/>
            <a:ext cx="3000396" cy="1714512"/>
            <a:chOff x="214282" y="785794"/>
            <a:chExt cx="2500330" cy="1714512"/>
          </a:xfrm>
        </p:grpSpPr>
        <p:sp>
          <p:nvSpPr>
            <p:cNvPr id="54" name="Прямоугольник 53"/>
            <p:cNvSpPr/>
            <p:nvPr/>
          </p:nvSpPr>
          <p:spPr>
            <a:xfrm>
              <a:off x="214282" y="1142984"/>
              <a:ext cx="2500330" cy="13573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Прогноз аварий</a:t>
              </a:r>
              <a:r>
                <a:rPr lang="en-US" dirty="0">
                  <a:solidFill>
                    <a:schemeClr val="tx1"/>
                  </a:solidFill>
                </a:rPr>
                <a:t>;</a:t>
              </a:r>
            </a:p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Оптимизация добычи</a:t>
              </a:r>
              <a:r>
                <a:rPr lang="en-US" dirty="0">
                  <a:solidFill>
                    <a:schemeClr val="tx1"/>
                  </a:solidFill>
                </a:rPr>
                <a:t>;</a:t>
              </a:r>
            </a:p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Определение тех. режимов</a:t>
              </a:r>
              <a:r>
                <a:rPr lang="en-US" dirty="0">
                  <a:solidFill>
                    <a:schemeClr val="tx1"/>
                  </a:solidFill>
                </a:rPr>
                <a:t>;</a:t>
              </a:r>
              <a:endParaRPr lang="ru-RU" dirty="0">
                <a:solidFill>
                  <a:schemeClr val="tx1"/>
                </a:solidFill>
              </a:endParaRPr>
            </a:p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Кандидаты на ГТМ</a:t>
              </a:r>
            </a:p>
          </p:txBody>
        </p:sp>
        <p:sp>
          <p:nvSpPr>
            <p:cNvPr id="55" name="Прямоугольник 54"/>
            <p:cNvSpPr/>
            <p:nvPr/>
          </p:nvSpPr>
          <p:spPr>
            <a:xfrm>
              <a:off x="214282" y="785794"/>
              <a:ext cx="2500330" cy="3571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b="1" dirty="0">
                  <a:solidFill>
                    <a:srgbClr val="FF0000"/>
                  </a:solidFill>
                </a:rPr>
                <a:t>Разработка</a:t>
              </a:r>
            </a:p>
          </p:txBody>
        </p:sp>
      </p:grpSp>
      <p:grpSp>
        <p:nvGrpSpPr>
          <p:cNvPr id="56" name="Группа 55"/>
          <p:cNvGrpSpPr/>
          <p:nvPr/>
        </p:nvGrpSpPr>
        <p:grpSpPr>
          <a:xfrm>
            <a:off x="6500826" y="4714884"/>
            <a:ext cx="2428892" cy="1714512"/>
            <a:chOff x="285720" y="785794"/>
            <a:chExt cx="2428892" cy="1714512"/>
          </a:xfrm>
        </p:grpSpPr>
        <p:sp>
          <p:nvSpPr>
            <p:cNvPr id="57" name="Прямоугольник 56"/>
            <p:cNvSpPr/>
            <p:nvPr/>
          </p:nvSpPr>
          <p:spPr>
            <a:xfrm>
              <a:off x="285720" y="1142984"/>
              <a:ext cx="2428892" cy="13573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Font typeface="Arial" pitchFamily="34" charset="0"/>
                <a:buChar char="•"/>
              </a:pPr>
              <a:r>
                <a:rPr lang="ru-RU" dirty="0">
                  <a:solidFill>
                    <a:schemeClr val="tx1"/>
                  </a:solidFill>
                </a:rPr>
                <a:t>Построение и уточнение гидродинамических моделей</a:t>
              </a:r>
            </a:p>
          </p:txBody>
        </p:sp>
        <p:sp>
          <p:nvSpPr>
            <p:cNvPr id="58" name="Прямоугольник 57"/>
            <p:cNvSpPr/>
            <p:nvPr/>
          </p:nvSpPr>
          <p:spPr>
            <a:xfrm>
              <a:off x="285720" y="785794"/>
              <a:ext cx="2428892" cy="3571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b="1" dirty="0">
                  <a:solidFill>
                    <a:srgbClr val="FF0000"/>
                  </a:solidFill>
                </a:rPr>
                <a:t>Моделирование</a:t>
              </a:r>
            </a:p>
          </p:txBody>
        </p:sp>
      </p:grpSp>
      <p:grpSp>
        <p:nvGrpSpPr>
          <p:cNvPr id="60" name="Группа 59"/>
          <p:cNvGrpSpPr/>
          <p:nvPr/>
        </p:nvGrpSpPr>
        <p:grpSpPr>
          <a:xfrm>
            <a:off x="1428728" y="4357694"/>
            <a:ext cx="214314" cy="385763"/>
            <a:chOff x="1428728" y="4357694"/>
            <a:chExt cx="214314" cy="385763"/>
          </a:xfrm>
        </p:grpSpPr>
        <p:sp>
          <p:nvSpPr>
            <p:cNvPr id="49" name="Line 16"/>
            <p:cNvSpPr>
              <a:spLocks noChangeShapeType="1"/>
            </p:cNvSpPr>
            <p:nvPr/>
          </p:nvSpPr>
          <p:spPr bwMode="blackWhite">
            <a:xfrm>
              <a:off x="1428728" y="4429132"/>
              <a:ext cx="0" cy="314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59" name="Line 16"/>
            <p:cNvSpPr>
              <a:spLocks noChangeShapeType="1"/>
            </p:cNvSpPr>
            <p:nvPr/>
          </p:nvSpPr>
          <p:spPr bwMode="blackWhite">
            <a:xfrm flipH="1" flipV="1">
              <a:off x="1643042" y="4357694"/>
              <a:ext cx="0" cy="3286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4429124" y="4357694"/>
            <a:ext cx="214314" cy="385763"/>
            <a:chOff x="1428728" y="4357694"/>
            <a:chExt cx="214314" cy="385763"/>
          </a:xfrm>
        </p:grpSpPr>
        <p:sp>
          <p:nvSpPr>
            <p:cNvPr id="62" name="Line 16"/>
            <p:cNvSpPr>
              <a:spLocks noChangeShapeType="1"/>
            </p:cNvSpPr>
            <p:nvPr/>
          </p:nvSpPr>
          <p:spPr bwMode="blackWhite">
            <a:xfrm>
              <a:off x="1428728" y="4429132"/>
              <a:ext cx="0" cy="314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63" name="Line 16"/>
            <p:cNvSpPr>
              <a:spLocks noChangeShapeType="1"/>
            </p:cNvSpPr>
            <p:nvPr/>
          </p:nvSpPr>
          <p:spPr bwMode="blackWhite">
            <a:xfrm flipH="1" flipV="1">
              <a:off x="1643042" y="4357694"/>
              <a:ext cx="0" cy="3286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7643834" y="4357694"/>
            <a:ext cx="214314" cy="385763"/>
            <a:chOff x="1428728" y="4357694"/>
            <a:chExt cx="214314" cy="385763"/>
          </a:xfrm>
        </p:grpSpPr>
        <p:sp>
          <p:nvSpPr>
            <p:cNvPr id="65" name="Line 16"/>
            <p:cNvSpPr>
              <a:spLocks noChangeShapeType="1"/>
            </p:cNvSpPr>
            <p:nvPr/>
          </p:nvSpPr>
          <p:spPr bwMode="blackWhite">
            <a:xfrm>
              <a:off x="1428728" y="4429132"/>
              <a:ext cx="0" cy="314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66" name="Line 16"/>
            <p:cNvSpPr>
              <a:spLocks noChangeShapeType="1"/>
            </p:cNvSpPr>
            <p:nvPr/>
          </p:nvSpPr>
          <p:spPr bwMode="blackWhite">
            <a:xfrm flipH="1" flipV="1">
              <a:off x="1643042" y="4357694"/>
              <a:ext cx="0" cy="3286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6842</TotalTime>
  <Words>623</Words>
  <Application>Microsoft Office PowerPoint</Application>
  <PresentationFormat>Экран (4:3)</PresentationFormat>
  <Paragraphs>194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Тема Office</vt:lpstr>
      <vt:lpstr>Проблемы и перспективы развития систем мониторинга</vt:lpstr>
      <vt:lpstr>Уровни измерений</vt:lpstr>
      <vt:lpstr>Текущее состояние</vt:lpstr>
      <vt:lpstr>Схема 1. Групповой замер</vt:lpstr>
      <vt:lpstr>Схема 2. Переключение по расписанию</vt:lpstr>
      <vt:lpstr>Поставленные задачи</vt:lpstr>
      <vt:lpstr>Методика исследования</vt:lpstr>
      <vt:lpstr>Схема 3. Переключение по событиям</vt:lpstr>
      <vt:lpstr>Информационный подход</vt:lpstr>
      <vt:lpstr>Определение события</vt:lpstr>
      <vt:lpstr>Сравнение</vt:lpstr>
      <vt:lpstr>Результаты</vt:lpstr>
      <vt:lpstr>Разработка комплексного ПО  </vt:lpstr>
      <vt:lpstr>Система распределенного мониторинга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Проблемы и перспективы развития систем мониторинга в ЗАО «РОСПАН ИНТЕРНЕШНЛ»</dc:title>
  <dc:creator>Anton</dc:creator>
  <cp:lastModifiedBy>Айдар Калимуллин</cp:lastModifiedBy>
  <cp:revision>20</cp:revision>
  <dcterms:created xsi:type="dcterms:W3CDTF">2013-08-01T20:40:00Z</dcterms:created>
  <dcterms:modified xsi:type="dcterms:W3CDTF">2022-04-14T03:17:12Z</dcterms:modified>
</cp:coreProperties>
</file>